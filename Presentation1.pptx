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94" d="100"/>
          <a:sy n="94" d="100"/>
        </p:scale>
        <p:origin x="182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2454C7-D55F-A54D-D0EF-D6D4646231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761CA0-E115-B2E2-0C19-1C9D41D95E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945C4A-C1D8-919C-25AB-528EB30FE5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50B60-87B4-48C8-8F35-E7499783069F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B08877-0257-0523-4BDA-FF4C214C6C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799969-A1D4-41C3-035D-4420232677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E9772-37AE-4024-9537-D84972906D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0130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1B6DFC-47DA-CFB2-8D94-D3D7ABF11E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B4ED37-EEDC-60FC-F231-7BB381740D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F23FCC-34FE-8452-3438-5DD82D4708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50B60-87B4-48C8-8F35-E7499783069F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C0511A-5CB5-CA0B-4843-0DF6DB48F6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0E2FA1-20AB-0CAC-F536-F7E6D55278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E9772-37AE-4024-9537-D84972906D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58426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207438-AC6C-FAB4-C421-58688E4B61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125074-E9EC-448B-B941-FBA7B6D066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1B4F52-29E0-15FC-9CE5-CCF7C3FFD2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50B60-87B4-48C8-8F35-E7499783069F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416789-363A-5D0A-6D06-4DE08EB39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D38997-F8CB-109C-DACE-9A4F6102A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E9772-37AE-4024-9537-D84972906D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5244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F7A155-2A2D-413B-4EF5-730ED325B5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6BB54B-DD6D-60C3-7570-D6920BDAAD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CBBBEA-DE9A-B490-1271-7EDB8DF2B3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D55B82-370F-A1F5-A3C4-A1DB923C2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50B60-87B4-48C8-8F35-E7499783069F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889560-1FF4-6B9B-7F2C-9F8B24734E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503166-CCDD-6BD2-67E9-9432A0C7D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E9772-37AE-4024-9537-D84972906D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9011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2D21AC-1F03-554D-2BFD-50E626F33D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96A27A-F526-359B-F7E4-DA89C8472C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1E5FFC-0C14-6021-66E9-5DE6E9388A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F3998D-D69C-59F2-B520-D45A67C46D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FB26D02-21E6-E0A6-E7D8-00347513B0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6130E8B-35DC-17CE-D035-D0F6CF487E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50B60-87B4-48C8-8F35-E7499783069F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7347050-97DD-06FE-D31F-996622BED4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5C171DA-487F-9EE9-93E4-3A0003BD3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E9772-37AE-4024-9537-D84972906D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58034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1C2CA3-F8E5-575C-608F-1D8DCB12D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F3313F9-2EF5-A486-F3A4-BDCF5B00E5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50B60-87B4-48C8-8F35-E7499783069F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6FB33A-433E-AF53-1F66-05BB55E48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C3C618-2D69-2F01-7CDC-54A57C7D52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E9772-37AE-4024-9537-D84972906D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95196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45A56D-F59B-F577-99D2-19B4132365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50B60-87B4-48C8-8F35-E7499783069F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B8441B7-378F-847D-1CF2-8F63339471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10DB77-283D-5C89-BA74-8E65B8B97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E9772-37AE-4024-9537-D84972906D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8591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92A0F9-CEA6-8198-A585-AD34588F84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09FC42-5F40-F185-7400-B2AE71083D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029BC5-B737-F2A8-61FA-53CF320701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7C6FA7-54EB-CD0C-DE9A-5733C0BDE5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50B60-87B4-48C8-8F35-E7499783069F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1AC077-EC6D-32AC-9B47-58AABF210C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AD7F2D-0FD1-8723-47CD-DF459E44F0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E9772-37AE-4024-9537-D84972906D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9442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4656CB-ED31-47A1-230F-4977546663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ADE8F8D-F56B-995A-8F4A-82DFCE7842E6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17FCDA-822D-7C39-257E-F75B1EFA51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F4C2DC-F529-9BF2-0C87-10F82C5378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50B60-87B4-48C8-8F35-E7499783069F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182F75-A430-E1FA-45BE-C8D6DC2194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EC0537-FA9E-0AD9-4510-FAD4EFF67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E9772-37AE-4024-9537-D84972906D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7303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5E6E87-26ED-E830-FC5C-E98A097805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1C88BB-4268-12F1-F7B0-5054D13C88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1B065D-BF07-5F65-C5FE-4A8223C15A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50B60-87B4-48C8-8F35-E7499783069F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E76B92-63CB-7BDC-5480-D4F481078E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27C937-6B28-87DA-5DD9-85B4F78C6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E9772-37AE-4024-9537-D84972906D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92590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9893F64-96FA-AA73-9680-46ABE015F4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8E10E3-8153-0092-AF31-133BAFD03B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9E2EA3-CEBB-535C-AD0D-0085A795E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50B60-87B4-48C8-8F35-E7499783069F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28E64B-3BAD-2710-8D74-15A0AD148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E84B33-1DA3-8EAC-A0CB-A90B14F49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E9772-37AE-4024-9537-D84972906D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2627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9AB602-FFC4-DE6D-4D38-2322ABE467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C33993-70DA-0E73-8182-3ED111EC9F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9FC5E2-8D04-AB0F-C666-E16B2845C1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C50B60-87B4-48C8-8F35-E7499783069F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02BE5C-D46D-D626-EC82-87C912EBE0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E806D4-FEDF-1079-4233-7F21010AE1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DE9772-37AE-4024-9537-D84972906D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9923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E1E93-400B-0E58-2F4D-EC186EF0E7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8714014" cy="3645580"/>
          </a:xfrm>
        </p:spPr>
        <p:txBody>
          <a:bodyPr/>
          <a:lstStyle/>
          <a:p>
            <a:r>
              <a:rPr lang="vi-VN" dirty="0"/>
              <a:t>	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BD0F4B-D3A3-B791-8F2E-50A91E9518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5129" y="487736"/>
            <a:ext cx="3934335" cy="833134"/>
          </a:xfrm>
        </p:spPr>
        <p:txBody>
          <a:bodyPr>
            <a:normAutofit fontScale="70000" lnSpcReduction="20000"/>
          </a:bodyPr>
          <a:lstStyle/>
          <a:p>
            <a:r>
              <a:rPr lang="vi-VN" dirty="0">
                <a:solidFill>
                  <a:schemeClr val="tx2">
                    <a:lumMod val="50000"/>
                    <a:lumOff val="50000"/>
                  </a:schemeClr>
                </a:solidFill>
              </a:rPr>
              <a:t>PayKX</a:t>
            </a:r>
          </a:p>
          <a:p>
            <a:r>
              <a:rPr lang="vi-VN" dirty="0"/>
              <a:t>                   Ví điện tử cho sinh viên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F26CDD2-907C-43D8-2FC1-4975BA3665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594" y="0"/>
            <a:ext cx="1267335" cy="123534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FE8AF26-8918-FADD-D04C-02A9C87923EB}"/>
              </a:ext>
            </a:extLst>
          </p:cNvPr>
          <p:cNvSpPr txBox="1"/>
          <p:nvPr/>
        </p:nvSpPr>
        <p:spPr>
          <a:xfrm>
            <a:off x="1143851" y="2126665"/>
            <a:ext cx="10384119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48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BÁO CÁO LỖ LÃI</a:t>
            </a:r>
          </a:p>
          <a:p>
            <a:r>
              <a:rPr lang="vi-VN" sz="40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THÁNG 05/2024</a:t>
            </a:r>
          </a:p>
          <a:p>
            <a:endParaRPr lang="en-US" sz="4800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C91DC5B-8A4F-BAC5-7CA8-FD95AFF503AA}"/>
              </a:ext>
            </a:extLst>
          </p:cNvPr>
          <p:cNvCxnSpPr/>
          <p:nvPr/>
        </p:nvCxnSpPr>
        <p:spPr>
          <a:xfrm>
            <a:off x="1410930" y="3901251"/>
            <a:ext cx="1208315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B470C0DA-1037-0B9E-7EEF-7279F7F07A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8484" y="1235347"/>
            <a:ext cx="4092556" cy="4621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92000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F1A242-92B1-F0B8-3A55-FDF5C3E593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vi-VN" sz="32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TỔNG QUAN KẾT QUẢ</a:t>
            </a:r>
            <a:endParaRPr lang="en-US" sz="32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62D6A6-697C-574A-2BBE-A53D842E287D}"/>
              </a:ext>
            </a:extLst>
          </p:cNvPr>
          <p:cNvSpPr>
            <a:spLocks noGrp="1"/>
          </p:cNvSpPr>
          <p:nvPr>
            <p:ph idx="1"/>
          </p:nvPr>
        </p:nvSpPr>
        <p:spPr>
          <a:xfrm flipV="1">
            <a:off x="8752115" y="8267018"/>
            <a:ext cx="1295399" cy="2444524"/>
          </a:xfrm>
        </p:spPr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58F905F-56AF-B7F3-AC31-3BE9292D7EB2}"/>
              </a:ext>
            </a:extLst>
          </p:cNvPr>
          <p:cNvSpPr/>
          <p:nvPr/>
        </p:nvSpPr>
        <p:spPr>
          <a:xfrm>
            <a:off x="1063841" y="1690687"/>
            <a:ext cx="2187569" cy="393518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vi-VN" sz="2400" dirty="0"/>
              <a:t>DOANH THU THUẦN</a:t>
            </a:r>
            <a:endParaRPr lang="en-US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65A2246-E363-C1EA-1028-7ECC7382B8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7141" y="1860632"/>
            <a:ext cx="1645930" cy="138875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3ADE419-70EE-822F-B69A-FB038BF8B9E0}"/>
              </a:ext>
            </a:extLst>
          </p:cNvPr>
          <p:cNvSpPr txBox="1"/>
          <p:nvPr/>
        </p:nvSpPr>
        <p:spPr>
          <a:xfrm>
            <a:off x="1273626" y="4044351"/>
            <a:ext cx="2039445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28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12.45</a:t>
            </a:r>
            <a:r>
              <a:rPr lang="vi-VN" dirty="0"/>
              <a:t> </a:t>
            </a:r>
          </a:p>
          <a:p>
            <a:pPr algn="ctr"/>
            <a:r>
              <a:rPr lang="vi-VN" dirty="0"/>
              <a:t>Tỷ VNĐ</a:t>
            </a:r>
            <a:endParaRPr lang="en-US" dirty="0"/>
          </a:p>
        </p:txBody>
      </p:sp>
      <p:sp>
        <p:nvSpPr>
          <p:cNvPr id="8" name="Isosceles Triangle 7">
            <a:extLst>
              <a:ext uri="{FF2B5EF4-FFF2-40B4-BE49-F238E27FC236}">
                <a16:creationId xmlns:a16="http://schemas.microsoft.com/office/drawing/2014/main" id="{BFE84C81-9645-DB59-8D40-AB540B136DFA}"/>
              </a:ext>
            </a:extLst>
          </p:cNvPr>
          <p:cNvSpPr/>
          <p:nvPr/>
        </p:nvSpPr>
        <p:spPr>
          <a:xfrm>
            <a:off x="1327868" y="4891536"/>
            <a:ext cx="339273" cy="310101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C2DA4C-7F4F-2EB8-7CD8-E31AD3C1D1CF}"/>
              </a:ext>
            </a:extLst>
          </p:cNvPr>
          <p:cNvSpPr txBox="1"/>
          <p:nvPr/>
        </p:nvSpPr>
        <p:spPr>
          <a:xfrm>
            <a:off x="1327869" y="4891536"/>
            <a:ext cx="23382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dirty="0"/>
              <a:t>          +18.6%</a:t>
            </a:r>
            <a:br>
              <a:rPr lang="vi-VN" dirty="0"/>
            </a:br>
            <a:r>
              <a:rPr lang="vi-VN" dirty="0"/>
              <a:t>so với T4/2024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BDED83B-7C41-034E-A90D-F90CF3138630}"/>
              </a:ext>
            </a:extLst>
          </p:cNvPr>
          <p:cNvSpPr/>
          <p:nvPr/>
        </p:nvSpPr>
        <p:spPr>
          <a:xfrm>
            <a:off x="3972602" y="1674811"/>
            <a:ext cx="2011680" cy="393518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vi-VN" sz="2400" dirty="0"/>
              <a:t>TỔNG CHI PHÍ</a:t>
            </a:r>
            <a:endParaRPr lang="en-US" sz="24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C63543B-9C74-12BC-D428-A9DCE569FE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2487" y="2014061"/>
            <a:ext cx="1267417" cy="109614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134194E-A4D6-1635-828E-07BD8B307FC1}"/>
              </a:ext>
            </a:extLst>
          </p:cNvPr>
          <p:cNvSpPr txBox="1"/>
          <p:nvPr/>
        </p:nvSpPr>
        <p:spPr>
          <a:xfrm>
            <a:off x="4691936" y="4071810"/>
            <a:ext cx="992579" cy="800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2800" dirty="0"/>
              <a:t>7.28</a:t>
            </a:r>
          </a:p>
          <a:p>
            <a:r>
              <a:rPr lang="vi-VN" dirty="0"/>
              <a:t>Tỷ VNĐ</a:t>
            </a:r>
            <a:endParaRPr lang="en-US" dirty="0"/>
          </a:p>
        </p:txBody>
      </p: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2C86AC96-B136-31EA-5B31-5D32802227DC}"/>
              </a:ext>
            </a:extLst>
          </p:cNvPr>
          <p:cNvSpPr/>
          <p:nvPr/>
        </p:nvSpPr>
        <p:spPr>
          <a:xfrm>
            <a:off x="4405023" y="4891536"/>
            <a:ext cx="365760" cy="310101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3DCEF79-C5F6-1818-B0D1-6F6382E57AD6}"/>
              </a:ext>
            </a:extLst>
          </p:cNvPr>
          <p:cNvSpPr txBox="1"/>
          <p:nvPr/>
        </p:nvSpPr>
        <p:spPr>
          <a:xfrm>
            <a:off x="4268107" y="4925785"/>
            <a:ext cx="171617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dirty="0"/>
              <a:t>         +12.1%</a:t>
            </a:r>
          </a:p>
          <a:p>
            <a:r>
              <a:rPr lang="vi-VN" dirty="0"/>
              <a:t>so với T4/2024</a:t>
            </a:r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53110E2-C7ED-3405-FFA2-80F7341B27B6}"/>
              </a:ext>
            </a:extLst>
          </p:cNvPr>
          <p:cNvSpPr/>
          <p:nvPr/>
        </p:nvSpPr>
        <p:spPr>
          <a:xfrm>
            <a:off x="6742706" y="1690687"/>
            <a:ext cx="2009409" cy="393518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vi-VN" sz="2400" dirty="0"/>
              <a:t>LỢI NHUẬN GỘP</a:t>
            </a:r>
            <a:endParaRPr lang="en-US" sz="24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9A068B77-503E-3563-7BED-0C2394086D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4809" y="2014061"/>
            <a:ext cx="1345201" cy="772776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213FC971-51DC-F042-4BE3-F2C568AC9FE5}"/>
              </a:ext>
            </a:extLst>
          </p:cNvPr>
          <p:cNvSpPr txBox="1"/>
          <p:nvPr/>
        </p:nvSpPr>
        <p:spPr>
          <a:xfrm>
            <a:off x="7354957" y="3888284"/>
            <a:ext cx="1008747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800" dirty="0"/>
              <a:t>5.17</a:t>
            </a:r>
            <a:r>
              <a:rPr lang="vi-VN" dirty="0"/>
              <a:t> </a:t>
            </a:r>
          </a:p>
          <a:p>
            <a:r>
              <a:rPr lang="vi-VN" dirty="0"/>
              <a:t>Tỷ VN</a:t>
            </a:r>
            <a:endParaRPr lang="en-US" dirty="0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5611309-8522-54E5-2091-0AE0F21495B4}"/>
              </a:ext>
            </a:extLst>
          </p:cNvPr>
          <p:cNvSpPr/>
          <p:nvPr/>
        </p:nvSpPr>
        <p:spPr>
          <a:xfrm>
            <a:off x="6877878" y="4819879"/>
            <a:ext cx="477079" cy="385686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CA277F5-AA52-8C3C-7491-5652248CE738}"/>
              </a:ext>
            </a:extLst>
          </p:cNvPr>
          <p:cNvSpPr/>
          <p:nvPr/>
        </p:nvSpPr>
        <p:spPr>
          <a:xfrm>
            <a:off x="9541950" y="1724507"/>
            <a:ext cx="1965817" cy="393518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vi-VN" sz="2400" dirty="0"/>
              <a:t>LỢI NHUẬN SAU THUẾ</a:t>
            </a:r>
            <a:endParaRPr lang="en-US" sz="240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F2AC3E2A-5FF4-0941-053B-8551EBE6C6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16844" y="2014061"/>
            <a:ext cx="816030" cy="775230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470793BD-A727-82B4-2611-38114E9B4A3E}"/>
              </a:ext>
            </a:extLst>
          </p:cNvPr>
          <p:cNvSpPr txBox="1"/>
          <p:nvPr/>
        </p:nvSpPr>
        <p:spPr>
          <a:xfrm>
            <a:off x="10028568" y="4044351"/>
            <a:ext cx="99257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2400" dirty="0"/>
              <a:t>2.89</a:t>
            </a:r>
          </a:p>
          <a:p>
            <a:r>
              <a:rPr lang="vi-VN" dirty="0"/>
              <a:t>Tỷ VNĐ</a:t>
            </a:r>
            <a:endParaRPr lang="en-US" dirty="0"/>
          </a:p>
        </p:txBody>
      </p:sp>
      <p:sp>
        <p:nvSpPr>
          <p:cNvPr id="25" name="Isosceles Triangle 24">
            <a:extLst>
              <a:ext uri="{FF2B5EF4-FFF2-40B4-BE49-F238E27FC236}">
                <a16:creationId xmlns:a16="http://schemas.microsoft.com/office/drawing/2014/main" id="{CE840FB3-EEE1-A79B-B757-777277394D02}"/>
              </a:ext>
            </a:extLst>
          </p:cNvPr>
          <p:cNvSpPr/>
          <p:nvPr/>
        </p:nvSpPr>
        <p:spPr>
          <a:xfrm>
            <a:off x="9780104" y="5012722"/>
            <a:ext cx="336740" cy="282847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9928C79-1C5D-4604-C7BD-D0E38E9B4F8F}"/>
              </a:ext>
            </a:extLst>
          </p:cNvPr>
          <p:cNvSpPr txBox="1"/>
          <p:nvPr/>
        </p:nvSpPr>
        <p:spPr>
          <a:xfrm>
            <a:off x="6740218" y="4917833"/>
            <a:ext cx="17546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dirty="0"/>
              <a:t>          +27.4%</a:t>
            </a:r>
          </a:p>
          <a:p>
            <a:r>
              <a:rPr lang="vi-VN" dirty="0"/>
              <a:t>So với T4/2024</a:t>
            </a:r>
            <a:endParaRPr 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447A92A-20D2-B6AA-E618-82BC98AFB5FC}"/>
              </a:ext>
            </a:extLst>
          </p:cNvPr>
          <p:cNvSpPr txBox="1"/>
          <p:nvPr/>
        </p:nvSpPr>
        <p:spPr>
          <a:xfrm>
            <a:off x="9647533" y="4979541"/>
            <a:ext cx="17546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dirty="0"/>
              <a:t>         +31.2%</a:t>
            </a:r>
          </a:p>
          <a:p>
            <a:r>
              <a:rPr lang="vi-VN" dirty="0"/>
              <a:t>So với T4/2024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36776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D71F09B-D176-C534-E60B-0A69CC4CBB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5657" y="1208314"/>
            <a:ext cx="4588329" cy="410663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9289E99-0F8C-28F2-0F16-22C822BB77EA}"/>
              </a:ext>
            </a:extLst>
          </p:cNvPr>
          <p:cNvSpPr txBox="1"/>
          <p:nvPr/>
        </p:nvSpPr>
        <p:spPr>
          <a:xfrm>
            <a:off x="1698171" y="530679"/>
            <a:ext cx="28392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dirty="0"/>
              <a:t>Doanh thu thuần (tỷ VNĐ)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05E0C86-499F-C577-72ED-2DE9566162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5255" y="1208314"/>
            <a:ext cx="4850737" cy="410663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C4C8C69-82D7-0127-550A-5FD9441AF7F2}"/>
              </a:ext>
            </a:extLst>
          </p:cNvPr>
          <p:cNvSpPr txBox="1"/>
          <p:nvPr/>
        </p:nvSpPr>
        <p:spPr>
          <a:xfrm>
            <a:off x="8017329" y="383721"/>
            <a:ext cx="27462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dirty="0"/>
              <a:t>Cơ cấu chi phí (T5/2024)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2C06C44-C875-C20D-918E-ECC8D593E094}"/>
              </a:ext>
            </a:extLst>
          </p:cNvPr>
          <p:cNvSpPr txBox="1"/>
          <p:nvPr/>
        </p:nvSpPr>
        <p:spPr>
          <a:xfrm>
            <a:off x="3135086" y="6245679"/>
            <a:ext cx="66672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dirty="0"/>
              <a:t>Tăng trưởng doanh thu mạnh-Tối ưu chi phí-Lợi nhuận bứt phá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289A422-0727-7204-EE57-D912783005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68001" y="5932909"/>
            <a:ext cx="1043405" cy="788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76083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98</Words>
  <Application>Microsoft Office PowerPoint</Application>
  <PresentationFormat>Widescreen</PresentationFormat>
  <Paragraphs>28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 </vt:lpstr>
      <vt:lpstr>TỔNG QUAN KẾT QUẢ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tahaviet09082008@outlook.com</dc:creator>
  <cp:lastModifiedBy>tahaviet09082008@outlook.com</cp:lastModifiedBy>
  <cp:revision>1</cp:revision>
  <dcterms:created xsi:type="dcterms:W3CDTF">2026-10-26T04:39:26Z</dcterms:created>
  <dcterms:modified xsi:type="dcterms:W3CDTF">2026-10-26T04:39:44Z</dcterms:modified>
</cp:coreProperties>
</file>